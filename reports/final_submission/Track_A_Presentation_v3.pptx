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b9a2ce20974a6e" /><Relationship Type="http://schemas.openxmlformats.org/officeDocument/2006/relationships/extended-properties" Target="/docProps/app.xml" Id="R280439a308b9406b" /><Relationship Type="http://schemas.openxmlformats.org/officeDocument/2006/relationships/officeDocument" Target="/ppt/presentation.xml" Id="R6a0a45f98aaf4a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4d7548626a467a"/>
  </p:sldMasterIdLst>
  <p:notesMasterIdLst>
    <p:notesMasterId xmlns:r="http://schemas.openxmlformats.org/officeDocument/2006/relationships" r:id="Rc96592611c0a46e8"/>
  </p:notesMasterIdLst>
  <p:sldIdLst>
    <p:sldId xmlns:r="http://schemas.openxmlformats.org/officeDocument/2006/relationships" id="256" r:id="Re9d0c995fc6e497a"/>
    <p:sldId xmlns:r="http://schemas.openxmlformats.org/officeDocument/2006/relationships" id="257" r:id="R7c45f0cdae2f41c7"/>
    <p:sldId xmlns:r="http://schemas.openxmlformats.org/officeDocument/2006/relationships" id="258" r:id="R307cad36d1094d9f"/>
    <p:sldId xmlns:r="http://schemas.openxmlformats.org/officeDocument/2006/relationships" id="259" r:id="R2ee5058294064e22"/>
    <p:sldId xmlns:r="http://schemas.openxmlformats.org/officeDocument/2006/relationships" id="260" r:id="R88c71804f5fe4e62"/>
    <p:sldId xmlns:r="http://schemas.openxmlformats.org/officeDocument/2006/relationships" id="261" r:id="R8289f7e0ff3a4c0d"/>
    <p:sldId xmlns:r="http://schemas.openxmlformats.org/officeDocument/2006/relationships" id="262" r:id="R7b634e7c64604e1f"/>
    <p:sldId xmlns:r="http://schemas.openxmlformats.org/officeDocument/2006/relationships" id="263" r:id="Rfea2b0c54fab431b"/>
    <p:sldId xmlns:r="http://schemas.openxmlformats.org/officeDocument/2006/relationships" id="264" r:id="R71d922366dd24a77"/>
    <p:sldId xmlns:r="http://schemas.openxmlformats.org/officeDocument/2006/relationships" id="265" r:id="Ra65cdd76371f42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ccef6b378b481a" /><Relationship Type="http://schemas.openxmlformats.org/officeDocument/2006/relationships/slideMaster" Target="/ppt/slideMasters/slideMaster1.xml" Id="Rf54d7548626a467a" /><Relationship Type="http://schemas.openxmlformats.org/officeDocument/2006/relationships/notesMaster" Target="/ppt/notesMasters/notesMaster1.xml" Id="Rc96592611c0a46e8" /><Relationship Type="http://schemas.openxmlformats.org/officeDocument/2006/relationships/presProps" Target="/ppt/presProps.xml" Id="R15a34b6eb4ef469c" /><Relationship Type="http://schemas.openxmlformats.org/officeDocument/2006/relationships/tableStyles" Target="/ppt/tableStyles.xml" Id="R85a6887afa3c4ae1" /><Relationship Type="http://schemas.openxmlformats.org/officeDocument/2006/relationships/slide" Target="/ppt/slides/slide1.xml" Id="Re9d0c995fc6e497a" /><Relationship Type="http://schemas.openxmlformats.org/officeDocument/2006/relationships/slide" Target="/ppt/slides/slide2.xml" Id="R7c45f0cdae2f41c7" /><Relationship Type="http://schemas.openxmlformats.org/officeDocument/2006/relationships/slide" Target="/ppt/slides/slide3.xml" Id="R307cad36d1094d9f" /><Relationship Type="http://schemas.openxmlformats.org/officeDocument/2006/relationships/slide" Target="/ppt/slides/slide4.xml" Id="R2ee5058294064e22" /><Relationship Type="http://schemas.openxmlformats.org/officeDocument/2006/relationships/slide" Target="/ppt/slides/slide5.xml" Id="R88c71804f5fe4e62" /><Relationship Type="http://schemas.openxmlformats.org/officeDocument/2006/relationships/slide" Target="/ppt/slides/slide6.xml" Id="R8289f7e0ff3a4c0d" /><Relationship Type="http://schemas.openxmlformats.org/officeDocument/2006/relationships/slide" Target="/ppt/slides/slide7.xml" Id="R7b634e7c64604e1f" /><Relationship Type="http://schemas.openxmlformats.org/officeDocument/2006/relationships/slide" Target="/ppt/slides/slide8.xml" Id="Rfea2b0c54fab431b" /><Relationship Type="http://schemas.openxmlformats.org/officeDocument/2006/relationships/slide" Target="/ppt/slides/slide9.xml" Id="R71d922366dd24a77" /><Relationship Type="http://schemas.openxmlformats.org/officeDocument/2006/relationships/slide" Target="/ppt/slides/slide10.xml" Id="Ra65cdd76371f42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b68c9d1b6547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b3aae7485b43e1" /><Relationship Type="http://schemas.openxmlformats.org/officeDocument/2006/relationships/notesMaster" Target="/ppt/notesMasters/notesMaster1.xml" Id="R53e985b1f2044e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27a72b54424491" /><Relationship Type="http://schemas.openxmlformats.org/officeDocument/2006/relationships/notesMaster" Target="/ppt/notesMasters/notesMaster1.xml" Id="Rcdf388ba856e40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074a74ab424938" /><Relationship Type="http://schemas.openxmlformats.org/officeDocument/2006/relationships/notesMaster" Target="/ppt/notesMasters/notesMaster1.xml" Id="Ra0159863382542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884f3f4cbb4cbe" /><Relationship Type="http://schemas.openxmlformats.org/officeDocument/2006/relationships/notesMaster" Target="/ppt/notesMasters/notesMaster1.xml" Id="Rc138b6a9887843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11dbc1da27438d" /><Relationship Type="http://schemas.openxmlformats.org/officeDocument/2006/relationships/notesMaster" Target="/ppt/notesMasters/notesMaster1.xml" Id="R844faac540aa43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2a1b497e4d411b" /><Relationship Type="http://schemas.openxmlformats.org/officeDocument/2006/relationships/notesMaster" Target="/ppt/notesMasters/notesMaster1.xml" Id="R80a76ca9436548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e774f27b3f4fb1" /><Relationship Type="http://schemas.openxmlformats.org/officeDocument/2006/relationships/notesMaster" Target="/ppt/notesMasters/notesMaster1.xml" Id="R523284b4c0354e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ef2cea3df547f1" /><Relationship Type="http://schemas.openxmlformats.org/officeDocument/2006/relationships/notesMaster" Target="/ppt/notesMasters/notesMaster1.xml" Id="R3523ec81467041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0b02c1bc0b4f1d" /><Relationship Type="http://schemas.openxmlformats.org/officeDocument/2006/relationships/notesMaster" Target="/ppt/notesMasters/notesMaster1.xml" Id="R1ad8f8adceea4bb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5176f5554d4205" /><Relationship Type="http://schemas.openxmlformats.org/officeDocument/2006/relationships/notesMaster" Target="/ppt/notesMasters/notesMaster1.xml" Id="R92e4a687d76744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6544a37ead471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aca8e9737544c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67124cb1f4462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3e8ba782b6455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9a8e8dfc524e9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0454af982145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229507-794F-49FA-8B2C-BC73D1EDF2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B6B2F0A-F216-4496-AB39-D95D31E9622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E22B3B9-927E-433C-BA83-C7796FA3A2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E32565-7F89-44A9-9B76-C063D32C3E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0236A54-A4BF-4E05-8AF0-F3FCF0A47C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59201AE-7529-4C3F-AFB4-82289326B2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44E549-EE72-486A-99CA-283247E914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9397699-797D-4738-B521-319A0EA19CD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A03952-B869-41EA-8BAB-C0D32891DA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91F9B6A-4CCC-4991-A295-A2A8543A9B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cc8cf440464e00" /><Relationship Type="http://schemas.openxmlformats.org/officeDocument/2006/relationships/slideLayout" Target="/ppt/slideLayouts/slideLayout1.xml" Id="R9ac85000e6564a55" /><Relationship Type="http://schemas.openxmlformats.org/officeDocument/2006/relationships/slideLayout" Target="/ppt/slideLayouts/slideLayout2.xml" Id="R9baf40841b0b400a" /><Relationship Type="http://schemas.openxmlformats.org/officeDocument/2006/relationships/slideLayout" Target="/ppt/slideLayouts/slideLayout3.xml" Id="R7003814b5b124bef" /><Relationship Type="http://schemas.openxmlformats.org/officeDocument/2006/relationships/slideLayout" Target="/ppt/slideLayouts/slideLayout4.xml" Id="R501551b73521481a" /><Relationship Type="http://schemas.openxmlformats.org/officeDocument/2006/relationships/slideLayout" Target="/ppt/slideLayouts/slideLayout5.xml" Id="Ra4cdcf63ba6a4a3d" /><Relationship Type="http://schemas.openxmlformats.org/officeDocument/2006/relationships/slideLayout" Target="/ppt/slideLayouts/slideLayout6.xml" Id="Rc5f4b5d9d0f746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c85000e6564a55"/>
    <p:sldLayoutId xmlns:r="http://schemas.openxmlformats.org/officeDocument/2006/relationships" id="2147483650" r:id="R9baf40841b0b400a"/>
    <p:sldLayoutId xmlns:r="http://schemas.openxmlformats.org/officeDocument/2006/relationships" id="2147483651" r:id="R7003814b5b124bef"/>
    <p:sldLayoutId xmlns:r="http://schemas.openxmlformats.org/officeDocument/2006/relationships" id="2147483652" r:id="R501551b73521481a"/>
    <p:sldLayoutId xmlns:r="http://schemas.openxmlformats.org/officeDocument/2006/relationships" id="2147483653" r:id="Ra4cdcf63ba6a4a3d"/>
    <p:sldLayoutId xmlns:r="http://schemas.openxmlformats.org/officeDocument/2006/relationships" id="2147483654" r:id="Rc5f4b5d9d0f746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c15cd91c4c4af9" /><Relationship Type="http://schemas.openxmlformats.org/officeDocument/2006/relationships/image" Target="/ppt/media/image.png" Id="R6894b6620ca14826" /><Relationship Type="http://schemas.openxmlformats.org/officeDocument/2006/relationships/notesSlide" Target="/ppt/notesSlides/notesSlide1.xml" Id="R8a903fdc050449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40c741bf244187" /><Relationship Type="http://schemas.openxmlformats.org/officeDocument/2006/relationships/notesSlide" Target="/ppt/notesSlides/notesSlide2.xml" Id="Rad4d229243aa42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5e49f1b49c4292" /><Relationship Type="http://schemas.openxmlformats.org/officeDocument/2006/relationships/image" Target="/ppt/media/image2.png" Id="Re1fc7c09bdac4e78" /><Relationship Type="http://schemas.openxmlformats.org/officeDocument/2006/relationships/notesSlide" Target="/ppt/notesSlides/notesSlide3.xml" Id="R223085355a1647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6935eeb4ef4c60" /><Relationship Type="http://schemas.openxmlformats.org/officeDocument/2006/relationships/notesSlide" Target="/ppt/notesSlides/notesSlide4.xml" Id="R1e4de7221cc648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30762f1b154947" /><Relationship Type="http://schemas.openxmlformats.org/officeDocument/2006/relationships/notesSlide" Target="/ppt/notesSlides/notesSlide5.xml" Id="R55e431f4f39a4b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fec0bff99a45dd" /><Relationship Type="http://schemas.openxmlformats.org/officeDocument/2006/relationships/chart" Target="/ppt/slides/charts/chart1.xml" Id="R2a7af89f9b324d86" /><Relationship Type="http://schemas.openxmlformats.org/officeDocument/2006/relationships/notesSlide" Target="/ppt/notesSlides/notesSlide6.xml" Id="R6cd02ff05a8b44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2fa0b3b466435e" /><Relationship Type="http://schemas.openxmlformats.org/officeDocument/2006/relationships/chart" Target="/ppt/slides/charts/chart2.xml" Id="R7d52cdc5429949b3" /><Relationship Type="http://schemas.openxmlformats.org/officeDocument/2006/relationships/chart" Target="/ppt/slides/charts/chart3.xml" Id="R32c830cbda854407" /><Relationship Type="http://schemas.openxmlformats.org/officeDocument/2006/relationships/chart" Target="/ppt/slides/charts/chart4.xml" Id="R013b70089e594276" /><Relationship Type="http://schemas.openxmlformats.org/officeDocument/2006/relationships/notesSlide" Target="/ppt/notesSlides/notesSlide7.xml" Id="Rb7c621d22de64b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70f6965f434525" /><Relationship Type="http://schemas.openxmlformats.org/officeDocument/2006/relationships/image" Target="/ppt/media/image3.png" Id="R1efde13f52cd4de9" /><Relationship Type="http://schemas.openxmlformats.org/officeDocument/2006/relationships/notesSlide" Target="/ppt/notesSlides/notesSlide8.xml" Id="Rbf931efbbcb649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c9eb25734f44d9" /><Relationship Type="http://schemas.openxmlformats.org/officeDocument/2006/relationships/notesSlide" Target="/ppt/notesSlides/notesSlide9.xml" Id="Rd414ce71ca144d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bcd4ae9bf742cf" /><Relationship Type="http://schemas.openxmlformats.org/officeDocument/2006/relationships/notesSlide" Target="/ppt/notesSlides/notesSlide10.xml" Id="R26f1c1c099044de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16324F"/>
                </a:solidFill>
              </a:rPr>
              <a:t>Mean F1 on 10 independent test seeds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16324F"/>
              </a:solidFill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Mean F1 (%)</c:v>
          </c:tx>
          <c:spPr>
            <a:solidFill xmlns:a="http://schemas.openxmlformats.org/drawingml/2006/main">
              <a:srgbClr val="2B6CB0"/>
            </a:solidFill>
          </c:spPr>
          <c:cat>
            <c:strRef>
              <c:f>'Chart Data'!$A$2:$A$6</c:f>
              <c:strCache>
                <c:ptCount val="5"/>
                <c:pt idx="0">
                  <c:v>SRCS</c:v>
                </c:pt>
                <c:pt idx="1">
                  <c:v>Lagged correlation</c:v>
                </c:pt>
                <c:pt idx="2">
                  <c:v>Granger-style</c:v>
                </c:pt>
                <c:pt idx="3">
                  <c:v>Pearson</c:v>
                </c:pt>
                <c:pt idx="4">
                  <c:v>Random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95.1</c:v>
                </c:pt>
                <c:pt idx="1">
                  <c:v>92.1</c:v>
                </c:pt>
                <c:pt idx="2">
                  <c:v>91.7</c:v>
                </c:pt>
                <c:pt idx="3">
                  <c:v>62.3</c:v>
                </c:pt>
                <c:pt idx="4">
                  <c:v>34.9</c:v>
                </c:pt>
              </c:numCache>
            </c:numRef>
          </c:val>
        </c:ser>
        <c:dLbls>
          <c:numFmt formatCode="0.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F1 (%)</a:t>
                </a:r>
              </a:p>
            </c:rich>
          </c:tx>
          <c:overlay val="0"/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CE3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6324F"/>
                </a:solidFill>
              </a:rPr>
              <a:t>F1 vs noise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16324F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Mean F1</c:v>
          </c:tx>
          <c:spPr>
            <a:solidFill xmlns:a="http://schemas.openxmlformats.org/drawingml/2006/main">
              <a:srgbClr val="2B6CB0"/>
            </a:solidFill>
            <a:ln xmlns:a="http://schemas.openxmlformats.org/drawingml/2006/main" w="28575">
              <a:solidFill>
                <a:srgbClr val="2B6CB0"/>
              </a:solidFill>
            </a:ln>
          </c:spPr>
          <c:marker>
            <c:size val="7"/>
          </c:marker>
          <c:cat>
            <c:numRef>
              <c:f>'Chart Data'!$A$2:$A$5</c:f>
              <c:numCache>
                <c:formatCode>General</c:formatCode>
                <c:ptCount val="4"/>
                <c:pt idx="0">
                  <c:v>0.05</c:v>
                </c:pt>
                <c:pt idx="1">
                  <c:v>0.10</c:v>
                </c:pt>
                <c:pt idx="2">
                  <c:v>0.20</c:v>
                </c:pt>
                <c:pt idx="3">
                  <c:v>0.35</c:v>
                </c:pt>
              </c:numCache>
            </c:num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0.953</c:v>
                </c:pt>
                <c:pt idx="1">
                  <c:v>0.967</c:v>
                </c:pt>
                <c:pt idx="2">
                  <c:v>0.915</c:v>
                </c:pt>
                <c:pt idx="3">
                  <c:v>0.777</c:v>
                </c:pt>
              </c:numCache>
            </c:numRef>
          </c:val>
        </c:ser>
        <c:dLbls>
          <c:numFmt formatCode="0.00" sourceLinked="0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Noise SD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1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6324F"/>
                </a:solidFill>
              </a:rPr>
              <a:t>F1 vs propagation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16324F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Mean F1</c:v>
          </c:tx>
          <c:spPr>
            <a:solidFill xmlns:a="http://schemas.openxmlformats.org/drawingml/2006/main">
              <a:srgbClr val="2C7A7B"/>
            </a:solidFill>
            <a:ln xmlns:a="http://schemas.openxmlformats.org/drawingml/2006/main" w="28575">
              <a:solidFill>
                <a:srgbClr val="2C7A7B"/>
              </a:solidFill>
            </a:ln>
          </c:spPr>
          <c:marker>
            <c:size val="7"/>
          </c:marker>
          <c:cat>
            <c:numRef>
              <c:f>'Chart Data'!$A$2:$A$5</c:f>
              <c:numCache>
                <c:formatCode>General</c:formatCode>
                <c:ptCount val="4"/>
                <c:pt idx="0">
                  <c:v>0.20</c:v>
                </c:pt>
                <c:pt idx="1">
                  <c:v>0.35</c:v>
                </c:pt>
                <c:pt idx="2">
                  <c:v>0.55</c:v>
                </c:pt>
                <c:pt idx="3">
                  <c:v>0.70</c:v>
                </c:pt>
              </c:numCache>
            </c:num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0.649</c:v>
                </c:pt>
                <c:pt idx="1">
                  <c:v>0.852</c:v>
                </c:pt>
                <c:pt idx="2">
                  <c:v>0.978</c:v>
                </c:pt>
                <c:pt idx="3">
                  <c:v>0.961</c:v>
                </c:pt>
              </c:numCache>
            </c:numRef>
          </c:val>
        </c:ser>
        <c:dLbls>
          <c:numFmt formatCode="0.00" sourceLinked="0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Propagation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1"/>
      </c:valAx>
    </c:plotArea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6324F"/>
                </a:solidFill>
              </a:rPr>
              <a:t>F1 vs shock count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16324F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Mean F1</c:v>
          </c:tx>
          <c:spPr>
            <a:solidFill xmlns:a="http://schemas.openxmlformats.org/drawingml/2006/main">
              <a:srgbClr val="D69E2E"/>
            </a:solidFill>
            <a:ln xmlns:a="http://schemas.openxmlformats.org/drawingml/2006/main" w="28575">
              <a:solidFill>
                <a:srgbClr val="D69E2E"/>
              </a:solidFill>
            </a:ln>
          </c:spPr>
          <c:marker>
            <c:size val="7"/>
          </c:marker>
          <c:cat>
            <c:numRef>
              <c:f>'Chart Data'!$A$2:$A$5</c:f>
              <c:numCache>
                <c:formatCode>General</c:formatCode>
                <c:ptCount val="4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</c:numCache>
            </c:num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0.883</c:v>
                </c:pt>
                <c:pt idx="1">
                  <c:v>0.946</c:v>
                </c:pt>
                <c:pt idx="2">
                  <c:v>0.978</c:v>
                </c:pt>
                <c:pt idx="3">
                  <c:v>0.944</c:v>
                </c:pt>
              </c:numCache>
            </c:numRef>
          </c:val>
        </c:ser>
        <c:dLbls>
          <c:numFmt formatCode="0.00" sourceLinked="0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Shocks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05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38A77A-4EF6-4BF8-9238-78267EF6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99397-A95F-4A83-A9E2-3CB78078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A8C8E8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A8C8E8"/>
                </a:solidFill>
              </a:defRPr>
            </a:pPr>
            <a:r>
              <a:rPr sz="1050" b="1">
                <a:solidFill>
                  <a:srgbClr val="A8C8E8"/>
                </a:solidFill>
              </a:rPr>
              <a:t>FINAL YEAR PROJECT  |  TRACK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ABD0F-59FC-46BB-B9F8-9E75B6C9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7620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3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Inferring Hidden Economic Connections from Financial Shock Propagation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83224-3174-471F-8C0F-3FD3ED0E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D6E7F7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6E7F7"/>
                </a:solidFill>
              </a:defRPr>
            </a:pPr>
            <a:r>
              <a:rPr sz="1800" b="0">
                <a:solidFill>
                  <a:srgbClr val="D6E7F7"/>
                </a:solidFill>
              </a:rPr>
              <a:t>A synthetic and real-data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3FCFCE-1789-4EEC-B35C-B1BF15CA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Reproducible simulation  •  Calibrated inference  •  Event-level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0FAAA-295F-4183-B32D-D6ADA7AE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A8C8E8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A8C8E8"/>
                </a:solidFill>
              </a:defRPr>
            </a:pPr>
            <a:r>
              <a:rPr sz="975" b="0">
                <a:solidFill>
                  <a:srgbClr val="A8C8E8"/>
                </a:solidFill>
              </a:rPr>
              <a:t>University submission deck  |  October 2026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303CB-C414-474E-9692-0BAE1E5CE2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94b6620ca14826"/>
          <a:stretch xmlns:a="http://schemas.openxmlformats.org/drawingml/2006/main"/>
        </p:blipFill>
        <p:spPr>
          <a:xfrm xmlns:a="http://schemas.openxmlformats.org/drawingml/2006/main">
            <a:off x="8572500" y="2055812"/>
            <a:ext cx="2952750" cy="246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9382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5609C5-A414-4BAF-B343-8FA901CA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B3112-3B66-4A22-9204-B624FB6A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2B6CB0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2B6CB0"/>
                </a:solidFill>
              </a:defRPr>
            </a:pPr>
            <a:r>
              <a:rPr sz="900" b="1">
                <a:solidFill>
                  <a:srgbClr val="2B6CB0"/>
                </a:solidFill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19D6A-C8AB-4240-BE10-69214F60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6324F"/>
                </a:solidFill>
              </a:defRPr>
            </a:pPr>
            <a:r>
              <a:rPr sz="2325" b="1">
                <a:solidFill>
                  <a:srgbClr val="16324F"/>
                </a:solidFill>
              </a:rPr>
              <a:t>Research question and scientific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29054-39B5-4240-90B1-2A014EB6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875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B6875"/>
                </a:solidFill>
              </a:defRPr>
            </a:pPr>
            <a:r>
              <a:rPr sz="750" b="0">
                <a:solidFill>
                  <a:srgbClr val="5B6875"/>
                </a:solidFill>
              </a:rPr>
              <a:t>TRACK A  | 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87684-E3E8-4FAF-B427-2297028C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2B6CB0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B6CB0"/>
                </a:solidFill>
              </a:defRPr>
            </a:pPr>
            <a:r>
              <a:rPr sz="1875" b="1">
                <a:solidFill>
                  <a:srgbClr val="2B6CB0"/>
                </a:solidFill>
              </a:rPr>
              <a:t>Can repeated delayed responses to company-specific shocks reveal stable candidate connections?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31767-A3A0-44CB-939B-8AD11CAD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3333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CBD9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962AC-2AF6-464D-A202-067EDCDA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B9AF1-F9D6-49C7-9FC4-EE74912B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Observed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BD1B9A-EE00-4FEF-9115-6D82D992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9146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Standardized company states or abnormal returns, plus detected shock events.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71D936-FC42-4C45-8258-3B55F886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33625"/>
            <a:ext cx="3333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CBD9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18A54C-2E0A-4819-A688-2E06F9D1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33625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671100-6A6F-4F11-AEF0-4EB6CEAA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765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Inferred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2302B-BEAA-4674-8A59-C7186D39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38450"/>
            <a:ext cx="29146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A symmetric score for each pair and either a calibrated synthetic edge set or a real-data ranking.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CC79D5-CCA7-43DD-846C-C0DD016C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33625"/>
            <a:ext cx="3333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CBD9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02EFB8-0109-49BB-9E70-546E3B6C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33625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303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FDCFEB-00FB-4D02-86A2-B298E627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Not claimed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5CE4EA-EEC0-4298-B3CD-EDC25CDD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38450"/>
            <a:ext cx="29146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Causality, supplier contracts, ownership links, or structural identification from co-movement alone.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B15C21-357D-4C2D-868C-58AE32C3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1009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Track A keeps the model interpretable: sparse networks, event conditioning, lag decay, consistency, and held-out evaluation.</a:t>
            </a:r>
          </a:p>
        </p:txBody>
      </p:sp>
    </p:spTree>
    <p:extLst>
      <p:ext uri="{BB962C8B-B14F-4D97-AF65-F5344CB8AC3E}">
        <p14:creationId xmlns:p14="http://schemas.microsoft.com/office/powerpoint/2010/main" val="10322579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0415E7-89AD-43DF-AA23-FC2FAC67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49BD6-4F5A-4508-9046-0D9D9775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2B6CB0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2B6CB0"/>
                </a:solidFill>
              </a:defRPr>
            </a:pPr>
            <a:r>
              <a:rPr sz="900" b="1">
                <a:solidFill>
                  <a:srgbClr val="2B6CB0"/>
                </a:solidFill>
              </a:rPr>
              <a:t>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8FED0-F4F5-4663-A410-A871E812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6324F"/>
                </a:solidFill>
              </a:defRPr>
            </a:pPr>
            <a:r>
              <a:rPr sz="2325" b="1">
                <a:solidFill>
                  <a:srgbClr val="16324F"/>
                </a:solidFill>
              </a:rPr>
              <a:t>One reusable pipeline supports two evidence regimes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79779-C4B5-48F9-A8D4-3486852E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875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B6875"/>
                </a:solidFill>
              </a:defRPr>
            </a:pPr>
            <a:r>
              <a:rPr sz="750" b="0">
                <a:solidFill>
                  <a:srgbClr val="5B6875"/>
                </a:solidFill>
              </a:rPr>
              <a:t>TRACK A  |  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80190-ADFC-4B6B-9F89-187ACD8EDB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fc7c09bdac4e78"/>
          <a:stretch xmlns:a="http://schemas.openxmlformats.org/drawingml/2006/main"/>
        </p:blipFill>
        <p:spPr>
          <a:xfrm xmlns:a="http://schemas.openxmlformats.org/drawingml/2006/main">
            <a:off x="666750" y="1376659"/>
            <a:ext cx="10858500" cy="377130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56F3F-9309-401C-9323-21A89AFE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B6875"/>
                </a:solidFill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B6875"/>
                </a:solidFill>
              </a:defRPr>
            </a:pPr>
            <a:r>
              <a:rPr sz="1200" b="0">
                <a:solidFill>
                  <a:srgbClr val="5B6875"/>
                </a:solidFill>
              </a:rPr>
              <a:t>Synthetic data supplies known edges for calibration and testing.</a:t>
            </a:r>
          </a:p>
          <a:p xmlns:a="http://schemas.openxmlformats.org/drawingml/2006/main">
            <a:pPr algn="ctr">
              <a:defRPr sz="1200" b="0">
                <a:solidFill>
                  <a:srgbClr val="5B6875"/>
                </a:solidFill>
              </a:defRPr>
            </a:pPr>
            <a:r>
              <a:rPr sz="1200" b="0">
                <a:solidFill>
                  <a:srgbClr val="5B6875"/>
                </a:solidFill>
              </a:rPr>
              <a:t>Real data supplies price histories and produces non-causal candidate rankings.</a:t>
            </a:r>
          </a:p>
        </p:txBody>
      </p:sp>
    </p:spTree>
    <p:extLst>
      <p:ext uri="{BB962C8B-B14F-4D97-AF65-F5344CB8AC3E}">
        <p14:creationId xmlns:p14="http://schemas.microsoft.com/office/powerpoint/2010/main" val="14132998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80024D-27BD-4632-8F6A-8F594A08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0EF5B-B152-4CA3-ACE8-EE8B27CE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2B6CB0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2B6CB0"/>
                </a:solidFill>
              </a:defRPr>
            </a:pPr>
            <a:r>
              <a:rPr sz="900" b="1">
                <a:solidFill>
                  <a:srgbClr val="2B6CB0"/>
                </a:solidFill>
              </a:rPr>
              <a:t>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AB390-B300-4603-873A-5C4CC09F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6324F"/>
                </a:solidFill>
              </a:defRPr>
            </a:pPr>
            <a:r>
              <a:rPr sz="2325" b="1">
                <a:solidFill>
                  <a:srgbClr val="16324F"/>
                </a:solidFill>
              </a:rPr>
              <a:t>SRCS rewards prompt, repeated, sign-consistent responses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B2E7C3-FDC6-4841-9641-44610A13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875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B6875"/>
                </a:solidFill>
              </a:defRPr>
            </a:pPr>
            <a:r>
              <a:rPr sz="750" b="0">
                <a:solidFill>
                  <a:srgbClr val="5B6875"/>
                </a:solidFill>
              </a:rPr>
              <a:t>TRACK A  | 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CAAA9-0A4B-4182-B8F0-0AF0A86B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9C95A-6A00-4163-AB50-7542169A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409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6324F"/>
                </a:solidFill>
              </a:defRPr>
            </a:pPr>
            <a:r>
              <a:rPr sz="1425" b="1">
                <a:solidFill>
                  <a:srgbClr val="16324F"/>
                </a:solidFill>
              </a:rPr>
              <a:t>Condition on shocks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57BF1-AA5C-4D84-A9E2-77DFF4D2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09700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Use source-company shock events with complete future windows.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EFC474-68F8-415A-81AC-E55C5596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955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8BB9A-DFB3-42AC-A722-06ED0A00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2764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6324F"/>
                </a:solidFill>
              </a:defRPr>
            </a:pPr>
            <a:r>
              <a:rPr sz="1425" b="1">
                <a:solidFill>
                  <a:srgbClr val="16324F"/>
                </a:solidFill>
              </a:rPr>
              <a:t>Scan delayed 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AD321F-BDD7-4CD8-8F9C-63BCB087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6475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Take the strongest same-sign target response across configurable lags.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4BE30-ACF7-4317-A489-34028A34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FE68CF-783D-46F6-8C1E-18D58A7E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143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6324F"/>
                </a:solidFill>
              </a:defRPr>
            </a:pPr>
            <a:r>
              <a:rPr sz="1425" b="1">
                <a:solidFill>
                  <a:srgbClr val="16324F"/>
                </a:solidFill>
              </a:rPr>
              <a:t>Apply lag decay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361299-864C-424F-9555-EDB2BF22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Discount later responses with an exponential weight.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85FB2B-23DA-4943-8990-A5E6F7B4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364F18-D77E-4B73-8D48-58107C5A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0100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6324F"/>
                </a:solidFill>
              </a:defRPr>
            </a:pPr>
            <a:r>
              <a:rPr sz="1425" b="1">
                <a:solidFill>
                  <a:srgbClr val="16324F"/>
                </a:solidFill>
              </a:rPr>
              <a:t>Combine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AE18CD-8D20-4A72-B98D-99364529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10025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Multiply average response by the fraction exceeding the response threshold.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6C0430-1F38-4B71-984A-863A95DC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1C57C2-B89D-49DB-842A-59570011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876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6324F"/>
                </a:solidFill>
              </a:defRPr>
            </a:pPr>
            <a:r>
              <a:rPr sz="1425" b="1">
                <a:solidFill>
                  <a:srgbClr val="16324F"/>
                </a:solidFill>
              </a:rPr>
              <a:t>Symmetrize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602E4A-11D1-432C-8702-5C3ABF57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76800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Average the two directed scores for an undirected pair.</a:t>
            </a:r>
          </a:p>
        </p:txBody>
      </p:sp>
    </p:spTree>
    <p:extLst>
      <p:ext uri="{BB962C8B-B14F-4D97-AF65-F5344CB8AC3E}">
        <p14:creationId xmlns:p14="http://schemas.microsoft.com/office/powerpoint/2010/main" val="1380346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468EF5-D62E-4593-B6EE-850FCD5C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ABFBBB-B380-445F-9050-7A861DED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2B6CB0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2B6CB0"/>
                </a:solidFill>
              </a:defRPr>
            </a:pPr>
            <a:r>
              <a:rPr sz="900" b="1">
                <a:solidFill>
                  <a:srgbClr val="2B6CB0"/>
                </a:solidFill>
              </a:rPr>
              <a:t>EVALUATION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403F9-5735-4C99-85D3-3D7D856C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6324F"/>
                </a:solidFill>
              </a:defRPr>
            </a:pPr>
            <a:r>
              <a:rPr sz="2325" b="1">
                <a:solidFill>
                  <a:srgbClr val="16324F"/>
                </a:solidFill>
              </a:rPr>
              <a:t>Calibration and testing use disjoint random seeds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E54E5A-CDEE-4058-B91F-A2C83C00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875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B6875"/>
                </a:solidFill>
              </a:defRPr>
            </a:pPr>
            <a:r>
              <a:rPr sz="750" b="0">
                <a:solidFill>
                  <a:srgbClr val="5B6875"/>
                </a:solidFill>
              </a:rPr>
              <a:t>TRACK A  | 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188024-D154-42A4-BD0C-CA7C4343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CBD9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99EDE-432B-416A-AA5E-F03480DF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4A351-DFFE-48B5-9066-FA26D9B3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71625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Development simulations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76E885-0773-430A-B05F-8825BD77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33575"/>
            <a:ext cx="29146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Generate separate graphs and observations. Search candidate thresholds and maximize mean F1 only on these seeds.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85290-C671-4C6F-92CF-8226FB65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287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CBD9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7DF8F-B1BE-4260-893A-E1A3E6CD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287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9FA54C-53C9-4430-9008-1795EB08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571625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Frozen threshold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FA817B-D4A1-4DF5-88F5-8708547F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933575"/>
            <a:ext cx="29146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Carry one method-specific threshold forward. The inference function receives scores only and never reads true adjacency.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EFB6BE-B1D1-4C0A-B8CB-476F6D91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CBD9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BD811A-F267-442D-90C7-D04B56C0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4243DB-862F-4123-8BF0-FB68D102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71625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Independent test simulations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D4F5F5-B66B-496A-A841-778F42B0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29146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Report precision, recall, F1, confusion counts, ROC-AUC, and PR-AUC. Count each undirected pair once.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3CEC23-2B6D-4772-A555-DD286822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43375"/>
            <a:ext cx="2667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2B6CB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B6CB0"/>
                </a:solidFill>
              </a:defRPr>
            </a:pPr>
            <a:r>
              <a:rPr sz="1650" b="1">
                <a:solidFill>
                  <a:srgbClr val="2B6CB0"/>
                </a:solidFill>
              </a:rPr>
              <a:t>10 development seeds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0EE065-8C11-4C3F-A671-7D9F01DA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43375"/>
            <a:ext cx="2667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9C6B10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9C6B10"/>
                </a:solidFill>
              </a:defRPr>
            </a:pPr>
            <a:r>
              <a:rPr sz="1500" b="1">
                <a:solidFill>
                  <a:srgbClr val="9C6B10"/>
                </a:solidFill>
              </a:rPr>
              <a:t>1 frozen rule per method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74C527-36D4-41A1-83C5-11B07DF1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143375"/>
            <a:ext cx="2667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5F5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2F855A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F855A"/>
                </a:solidFill>
              </a:defRPr>
            </a:pPr>
            <a:r>
              <a:rPr sz="1500" b="1">
                <a:solidFill>
                  <a:srgbClr val="2F855A"/>
                </a:solidFill>
              </a:rPr>
              <a:t>10 independent test seeds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27DA9C-1F53-439A-98ED-6EC1C550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387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6324F"/>
                </a:solidFill>
              </a:defRPr>
            </a:pPr>
            <a:r>
              <a:rPr sz="1650" b="0">
                <a:solidFill>
                  <a:srgbClr val="16324F"/>
                </a:solidFill>
              </a:rPr>
              <a:t>This design prevents test labels from selecting the threshold.</a:t>
            </a:r>
          </a:p>
        </p:txBody>
      </p:sp>
    </p:spTree>
    <p:extLst>
      <p:ext uri="{BB962C8B-B14F-4D97-AF65-F5344CB8AC3E}">
        <p14:creationId xmlns:p14="http://schemas.microsoft.com/office/powerpoint/2010/main" val="9730751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770593-D98C-4943-8C10-49F32774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85CB7-2C8D-490C-8C61-0DA9630B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2B6CB0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2B6CB0"/>
                </a:solidFill>
              </a:defRPr>
            </a:pPr>
            <a:r>
              <a:rPr sz="900" b="1">
                <a:solidFill>
                  <a:srgbClr val="2B6CB0"/>
                </a:solidFill>
              </a:rPr>
              <a:t>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8A494-CB0F-491A-9799-E0127D50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6324F"/>
                </a:solidFill>
              </a:defRPr>
            </a:pPr>
            <a:r>
              <a:rPr sz="2325" b="1">
                <a:solidFill>
                  <a:srgbClr val="16324F"/>
                </a:solidFill>
              </a:rPr>
              <a:t>SRCS led this synthetic benchmark, with close lagged baselines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F111EC-FC71-44C8-BE5E-6C1494BC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875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B6875"/>
                </a:solidFill>
              </a:defRPr>
            </a:pPr>
            <a:r>
              <a:rPr sz="750" b="0">
                <a:solidFill>
                  <a:srgbClr val="5B6875"/>
                </a:solidFill>
              </a:rPr>
              <a:t>TRACK A  |  6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2FD0868C-F563-49F0-848E-9CA1B1600820}"/>
              </a:ext>
            </a:extLst>
          </p:cNvPr>
          <p:cNvGraphicFramePr/>
          <p:nvPr/>
        </p:nvGraphicFramePr>
        <p:xfrm>
          <a:off xmlns:a="http://schemas.openxmlformats.org/drawingml/2006/main" x="762000" y="1381125"/>
          <a:ext xmlns:a="http://schemas.openxmlformats.org/drawingml/2006/main" cx="72390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7af89f9b324d8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A471F-9930-4C26-A35D-C19268CB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19250"/>
            <a:ext cx="3048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CBD9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3AD11-D11C-4D88-B3DC-FAA9B7C0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1925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2F75F-DFB7-49FD-B482-A362A48E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76212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Recorded results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D59138-6027-49FD-A956-00F19119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124075"/>
            <a:ext cx="26289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SRCS: 0.951 ± 0.048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Lagged correlation: 0.921 ± 0.070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Granger-style: 0.917 ± 0.051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Pearson: 0.623 ± 0.050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Random: 0.349 ± 0.096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C0631E-3F02-4768-AE31-E73BE483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6250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Interpretation: the event-conditioned score performed best here, but the margin over temporal baselines was modest.</a:t>
            </a:r>
          </a:p>
        </p:txBody>
      </p:sp>
    </p:spTree>
    <p:extLst>
      <p:ext uri="{BB962C8B-B14F-4D97-AF65-F5344CB8AC3E}">
        <p14:creationId xmlns:p14="http://schemas.microsoft.com/office/powerpoint/2010/main" val="6201408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577B56-2987-402B-87F5-2FB4A594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2B321-7626-421B-8728-82CADA71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2B6CB0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2B6CB0"/>
                </a:solidFill>
              </a:defRPr>
            </a:pPr>
            <a:r>
              <a:rPr sz="900" b="1">
                <a:solidFill>
                  <a:srgbClr val="2B6CB0"/>
                </a:solidFill>
              </a:rPr>
              <a:t>ROBUSTNESS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6F405-07D2-4802-9F2F-E987E413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6324F"/>
                </a:solidFill>
              </a:defRPr>
            </a:pPr>
            <a:r>
              <a:rPr sz="2325" b="1">
                <a:solidFill>
                  <a:srgbClr val="16324F"/>
                </a:solidFill>
              </a:rPr>
              <a:t>Performance degrades under weak propagation and high noise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F8ED0-6193-46B7-92F3-920580EE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875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B6875"/>
                </a:solidFill>
              </a:defRPr>
            </a:pPr>
            <a:r>
              <a:rPr sz="750" b="0">
                <a:solidFill>
                  <a:srgbClr val="5B6875"/>
                </a:solidFill>
              </a:rPr>
              <a:t>TRACK A  |  7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B66DE775-07CE-4DE8-B24A-EF91BD07A1D9}"/>
              </a:ext>
            </a:extLst>
          </p:cNvPr>
          <p:cNvGraphicFramePr/>
          <p:nvPr/>
        </p:nvGraphicFramePr>
        <p:xfrm>
          <a:off xmlns:a="http://schemas.openxmlformats.org/drawingml/2006/main" x="523875" y="1381125"/>
          <a:ext xmlns:a="http://schemas.openxmlformats.org/drawingml/2006/main" cx="3571875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52cdc5429949b3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0D383895-2C34-424F-9A75-DD73DD7DEEE8}"/>
              </a:ext>
            </a:extLst>
          </p:cNvPr>
          <p:cNvGraphicFramePr/>
          <p:nvPr/>
        </p:nvGraphicFramePr>
        <p:xfrm>
          <a:off xmlns:a="http://schemas.openxmlformats.org/drawingml/2006/main" x="4305300" y="1381125"/>
          <a:ext xmlns:a="http://schemas.openxmlformats.org/drawingml/2006/main" cx="3571875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c830cbda854407"/>
          </a:graphicData>
        </a:graphic>
      </p:graphicFrame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F6CB60BE-53EC-4258-8978-0041D7F58F4C}"/>
              </a:ext>
            </a:extLst>
          </p:cNvPr>
          <p:cNvGraphicFramePr/>
          <p:nvPr/>
        </p:nvGraphicFramePr>
        <p:xfrm>
          <a:off xmlns:a="http://schemas.openxmlformats.org/drawingml/2006/main" x="8086725" y="1381125"/>
          <a:ext xmlns:a="http://schemas.openxmlformats.org/drawingml/2006/main" cx="3571875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13b70089e594276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4B3466-644D-4AFC-B65D-155FEC33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86375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5B6875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B6875"/>
                </a:solidFill>
              </a:defRPr>
            </a:pPr>
            <a:r>
              <a:rPr sz="1275" b="0">
                <a:solidFill>
                  <a:srgbClr val="5B6875"/>
                </a:solidFill>
              </a:rPr>
              <a:t>Each point summarizes 10 independent development/test seed pairs. Error bars and raw trials are stored in the repository figures and CSVs.</a:t>
            </a:r>
          </a:p>
        </p:txBody>
      </p:sp>
    </p:spTree>
    <p:extLst>
      <p:ext uri="{BB962C8B-B14F-4D97-AF65-F5344CB8AC3E}">
        <p14:creationId xmlns:p14="http://schemas.microsoft.com/office/powerpoint/2010/main" val="16533250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C6C7FD-07CC-4418-8E37-E90A5AD9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F7736-D3CA-4F53-9853-E3DBFBEE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2B6CB0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2B6CB0"/>
                </a:solidFill>
              </a:defRPr>
            </a:pPr>
            <a:r>
              <a:rPr sz="900" b="1">
                <a:solidFill>
                  <a:srgbClr val="2B6CB0"/>
                </a:solidFill>
              </a:rPr>
              <a:t>REAL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6308C-9B65-4C0D-B5EC-B6CC8375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6324F"/>
                </a:solidFill>
              </a:defRPr>
            </a:pPr>
            <a:r>
              <a:rPr sz="2325" b="1">
                <a:solidFill>
                  <a:srgbClr val="16324F"/>
                </a:solidFill>
              </a:rPr>
              <a:t>The real-data run uses 1,003 genuine daily observations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154F20-2AB9-4B32-BF33-BB768AD4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875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B6875"/>
                </a:solidFill>
              </a:defRPr>
            </a:pPr>
            <a:r>
              <a:rPr sz="750" b="0">
                <a:solidFill>
                  <a:srgbClr val="5B6875"/>
                </a:solidFill>
              </a:rPr>
              <a:t>TRACK A  | 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2A860-9615-4A1D-81A0-A55BA915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32385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CBD9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88C91-8EE7-4A0E-8C01-5550D6C3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6667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55968-91E6-43BB-8BE5-66077AB7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5240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Coverage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80EB09-45FD-4491-85C4-D31E5585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885950"/>
            <a:ext cx="281940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10 companies plus SPY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2022-01-01 to 2026-01-01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Yahoo Finance adjusted closes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Local CSV and provenance cache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F92FF-FA58-45CE-8215-6F2E6DF4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3238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CBD9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034785-6A34-4717-BDFA-D408E47C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01011-8E03-43CA-806A-2F5FD584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0481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Preprocessing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2100AF-434E-4325-9D67-C8C3BD07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410075"/>
            <a:ext cx="28194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Align dates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Forward-fill short gaps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Compute log returns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Fit market model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Standardize residuals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77CAF1-B106-44DC-9FDB-62606ACF9C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de13f52cd4de9"/>
          <a:stretch xmlns:a="http://schemas.openxmlformats.org/drawingml/2006/main"/>
        </p:blipFill>
        <p:spPr>
          <a:xfrm xmlns:a="http://schemas.openxmlformats.org/drawingml/2006/main">
            <a:off x="4778375" y="1285875"/>
            <a:ext cx="6159500" cy="4619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9919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C2AD61-70DB-48EA-B0FA-EEC04C98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DA315E-B850-422A-9F13-9EB7C470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2B6CB0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2B6CB0"/>
                </a:solidFill>
              </a:defRPr>
            </a:pPr>
            <a:r>
              <a:rPr sz="900" b="1">
                <a:solidFill>
                  <a:srgbClr val="2B6CB0"/>
                </a:solidFill>
              </a:rPr>
              <a:t>CASE STUDIES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E4F24-2921-442A-B291-73130795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6324F"/>
                </a:solidFill>
              </a:defRPr>
            </a:pPr>
            <a:r>
              <a:rPr sz="2325" b="1">
                <a:solidFill>
                  <a:srgbClr val="16324F"/>
                </a:solidFill>
              </a:rPr>
              <a:t>Event-level evidence separates strong and ambiguous candidates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BF136-7180-4710-BF3D-1C2B7EE5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875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B6875"/>
                </a:solidFill>
              </a:defRPr>
            </a:pPr>
            <a:r>
              <a:rPr sz="750" b="0">
                <a:solidFill>
                  <a:srgbClr val="5B6875"/>
                </a:solidFill>
              </a:rPr>
              <a:t>TRACK A  | 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DCFEB1-0853-4800-94F1-24291DC5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76375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CBD9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73055-A0D0-443D-A17C-A7C4B667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76375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254035-E7C6-4031-8FB0-8B64B6E0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GOOGL – AMZN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875C7B-40B5-4E9F-8B9D-DEFAD77C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29146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Highest ranked pair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SRCS 0.235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Inspect source shocks, response lag, direction, and magnitude in the exported evidence table.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F4515-428A-4CEE-832E-D32087D3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76375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CBD9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95BEF4-0530-4585-B14F-DA94EF72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76375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3E04C-B283-4BDA-88D7-FC8CA44A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6192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AAPL – MSFT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27DE93-BB0F-4A61-BE4F-A0E6AA88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981200"/>
            <a:ext cx="29146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Second ranked pair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SRCS 0.223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A repeated response pattern supports ranking, while shared exposures remain a plausible explanation.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377679-3A41-47CF-9DB0-2F93D95E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76375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CBD9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0DA53F-D0B6-469C-84F8-172A0FA9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76375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303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0DED0-D884-496B-B089-CAAA797A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192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GOOGL – NVDA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5730DA-FF88-4FF5-84BC-A6CCB5F2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81200"/>
            <a:ext cx="29146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Ambiguous low-ranked pair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SRCS 0.019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Weak or inconsistent delayed responses demonstrate that the method can return inconclusive evidence.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639ED2-DC64-4EC8-A968-B78F8923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933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6324F"/>
                </a:solidFill>
              </a:defRPr>
            </a:pPr>
            <a:r>
              <a:rPr sz="1725" b="1">
                <a:solidFill>
                  <a:srgbClr val="16324F"/>
                </a:solidFill>
              </a:rPr>
              <a:t>A high score is a screening signal, not proof of a supply-chain link, contract, or causal mechanism.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D79D18-2F45-47FA-8E94-27463800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81625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5B6875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B6875"/>
                </a:solidFill>
              </a:defRPr>
            </a:pPr>
            <a:r>
              <a:rPr sz="1275" b="0">
                <a:solidFill>
                  <a:srgbClr val="5B6875"/>
                </a:solidFill>
              </a:rPr>
              <a:t>All event rows, ranked pairs, figures, source dates, and acquisition metadata are exportable.</a:t>
            </a:r>
          </a:p>
        </p:txBody>
      </p:sp>
    </p:spTree>
    <p:extLst>
      <p:ext uri="{BB962C8B-B14F-4D97-AF65-F5344CB8AC3E}">
        <p14:creationId xmlns:p14="http://schemas.microsoft.com/office/powerpoint/2010/main" val="6615485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1987AD-6C04-4260-8364-B86E3289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44E25-B987-4640-B608-304F3D48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2B6CB0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2B6CB0"/>
                </a:solidFill>
              </a:defRPr>
            </a:pPr>
            <a:r>
              <a:rPr sz="900" b="1">
                <a:solidFill>
                  <a:srgbClr val="2B6CB0"/>
                </a:solidFill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96261C-A3FE-49B5-A7F5-9BF39B57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6324F"/>
                </a:solidFill>
              </a:defRPr>
            </a:pPr>
            <a:r>
              <a:rPr sz="2325" b="1">
                <a:solidFill>
                  <a:srgbClr val="16324F"/>
                </a:solidFill>
              </a:rPr>
              <a:t>A complete prototype with explicit limits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FD1B5-9488-4728-8D88-93E9CDC5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875"/>
                </a:solidFill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B6875"/>
                </a:solidFill>
              </a:defRPr>
            </a:pPr>
            <a:r>
              <a:rPr sz="750" b="0">
                <a:solidFill>
                  <a:srgbClr val="5B6875"/>
                </a:solidFill>
              </a:rPr>
              <a:t>TRACK A  |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915C0-5A20-4D75-A74E-E47AAE65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3238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CBD9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D9B3D6-E76F-41DE-88B9-10DB7704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94B6DB-6A64-4165-BEF9-58CE1777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240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Delivered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C7DE9-17D3-4AEC-B8EB-25F7CFF6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28194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Synthetic workflow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Five compared methods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Three robustness sweeps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Verified real-data analysis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Seven-page Streamlit app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Tests, Docker, CI, DOCX, 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E2F68B-9A77-4CBC-8183-F5121039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81125"/>
            <a:ext cx="3238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CBD9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765804-C98B-49EF-85AA-33A9E33A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81125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303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4CC0B-21A8-42EF-831D-74E4AE22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5240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Limits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227BE0-FFCC-4B47-AA5C-7D2BD96C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85950"/>
            <a:ext cx="28194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Thresholds depend on the simulation regime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Market residualization is linear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Events can overlap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Scores do not establish causality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External relationship labels remain absent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3F6BF4-E322-4FF1-A529-B141B229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81125"/>
            <a:ext cx="3238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CBD9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E3147B-F4FC-4AD4-9226-AA6F5F3A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81125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836A65-F97A-4C9D-8C0C-494B0532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5240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Reproduce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9EE3F8-D884-494C-AB6C-D29EA21C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85950"/>
            <a:ext cx="28194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python -m pytest -q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python -m experiments.compare_methods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python -m experiments.run_robustness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python -m experiments.run_real_data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streamlit run app.py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FEA52A-6A17-4DD3-8355-03496296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43500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6324F"/>
                </a:solidFill>
              </a:defRPr>
            </a:pPr>
            <a:r>
              <a:rPr sz="1725" b="1">
                <a:solidFill>
                  <a:srgbClr val="16324F"/>
                </a:solidFill>
              </a:rPr>
              <a:t>Core contribution: a transparent event-conditioned inference workflow whose claims match its evidence.</a:t>
            </a:r>
          </a:p>
        </p:txBody>
      </p:sp>
    </p:spTree>
    <p:extLst>
      <p:ext uri="{BB962C8B-B14F-4D97-AF65-F5344CB8AC3E}">
        <p14:creationId xmlns:p14="http://schemas.microsoft.com/office/powerpoint/2010/main" val="10515495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2026-10-11T14:43:57.1670000Z</dcterms:created>
  <dcterms:modified xsi:type="dcterms:W3CDTF">2026-10-11T14:43:57.1670000Z</dcterms:modified>
</coreProperties>
</file>